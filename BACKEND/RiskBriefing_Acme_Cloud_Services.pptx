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874519"/>
            <a:ext cx="128016" cy="23774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83080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500" b="1">
                <a:solidFill>
                  <a:srgbClr val="C0392B"/>
                </a:solidFill>
                <a:latin typeface="Calibri"/>
              </a:rPr>
              <a:t>IT VENDOR RISK ASSESSMENT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240280"/>
            <a:ext cx="1024128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Acme Cloud Services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611880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800" b="0">
                <a:solidFill>
                  <a:srgbClr val="A9B0C0"/>
                </a:solidFill>
                <a:latin typeface="Calibri"/>
              </a:rPr>
              <a:t>Executive briefing for IT management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1170432" y="4343400"/>
            <a:ext cx="6035040" cy="12700"/>
          </a:xfrm>
          <a:prstGeom prst="rect">
            <a:avLst/>
          </a:prstGeom>
          <a:solidFill>
            <a:srgbClr val="33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4572000"/>
            <a:ext cx="1005840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300" b="0">
                <a:solidFill>
                  <a:srgbClr val="A9B0C0"/>
                </a:solidFill>
                <a:latin typeface="Calibri"/>
              </a:rPr>
              <a:t>28 July 2026</a:t>
            </a:r>
          </a:p>
          <a:p>
            <a:pPr algn="l"/>
            <a:r>
              <a:rPr sz="1300" b="0">
                <a:solidFill>
                  <a:srgbClr val="A9B0C0"/>
                </a:solidFill>
                <a:latin typeface="Calibri"/>
              </a:rPr>
              <a:t>Murdoch University Risk Management Framework  ·  Likelihood × Impact</a:t>
            </a:r>
          </a:p>
          <a:p>
            <a:pPr algn="l"/>
            <a:r>
              <a:rPr sz="1200" b="1">
                <a:solidFill>
                  <a:srgbClr val="7A8296"/>
                </a:solidFill>
                <a:latin typeface="Calibri"/>
              </a:rPr>
              <a:t>Classification: INTERNAL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200" b="1">
                <a:solidFill>
                  <a:srgbClr val="C0392B"/>
                </a:solidFill>
                <a:latin typeface="Calibri"/>
              </a:rPr>
              <a:t>THE BOTTOM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Recommendation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10908792" cy="15240"/>
          </a:xfrm>
          <a:prstGeom prst="rect">
            <a:avLst/>
          </a:prstGeom>
          <a:solidFill>
            <a:srgbClr val="33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10908792" cy="105156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91640"/>
            <a:ext cx="10332720" cy="10515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Conditional Approval — High Risks Require Remediation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0632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300" b="1">
                <a:solidFill>
                  <a:srgbClr val="C0392B"/>
                </a:solidFill>
                <a:latin typeface="Calibri"/>
              </a:rPr>
              <a:t>WHY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429000"/>
            <a:ext cx="10881360" cy="3017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500" b="1">
                <a:solidFill>
                  <a:srgbClr val="C0392B"/>
                </a:solidFill>
                <a:latin typeface="Calibri"/>
              </a:rPr>
              <a:t>•  </a:t>
            </a:r>
            <a:r>
              <a:rPr sz="1500" b="0">
                <a:solidFill>
                  <a:srgbClr val="F8F9FA"/>
                </a:solidFill>
                <a:latin typeface="Calibri"/>
              </a:rPr>
              <a:t>Overall residual risk is MEDIUM (average RMF 2.64) across 172 assessed controls.</a:t>
            </a:r>
          </a:p>
          <a:p>
            <a:pPr algn="l"/>
            <a:r>
              <a:rPr sz="1500" b="1">
                <a:solidFill>
                  <a:srgbClr val="C0392B"/>
                </a:solidFill>
                <a:latin typeface="Calibri"/>
              </a:rPr>
              <a:t>•  </a:t>
            </a:r>
            <a:r>
              <a:rPr sz="1500" b="0">
                <a:solidFill>
                  <a:srgbClr val="F8F9FA"/>
                </a:solidFill>
                <a:latin typeface="Calibri"/>
              </a:rPr>
              <a:t>14 HIGH severity risks require senior attention before go-live.</a:t>
            </a:r>
          </a:p>
          <a:p>
            <a:pPr algn="l"/>
            <a:r>
              <a:rPr sz="1500" b="1">
                <a:solidFill>
                  <a:srgbClr val="C0392B"/>
                </a:solidFill>
                <a:latin typeface="Calibri"/>
              </a:rPr>
              <a:t>•  </a:t>
            </a:r>
            <a:r>
              <a:rPr sz="1500" b="0">
                <a:solidFill>
                  <a:srgbClr val="F8F9FA"/>
                </a:solidFill>
                <a:latin typeface="Calibri"/>
              </a:rPr>
              <a:t>Control posture: 113 compliant, 41 partial, 18 gaps of 195 HECVAT controls.</a:t>
            </a:r>
          </a:p>
          <a:p>
            <a:pPr algn="l"/>
            <a:r>
              <a:rPr sz="1500" b="1">
                <a:solidFill>
                  <a:srgbClr val="C0392B"/>
                </a:solidFill>
                <a:latin typeface="Calibri"/>
              </a:rPr>
              <a:t>•  </a:t>
            </a:r>
            <a:r>
              <a:rPr sz="1500" b="0">
                <a:solidFill>
                  <a:srgbClr val="F8F9FA"/>
                </a:solidFill>
                <a:latin typeface="Calibri"/>
              </a:rPr>
              <a:t>Evidence coverage is 88.2% — 23 controls lacked sufficient policy evidence to score.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200" b="1">
                <a:solidFill>
                  <a:srgbClr val="C0392B"/>
                </a:solidFill>
                <a:latin typeface="Calibri"/>
              </a:rPr>
              <a:t>KEY COMPONENTS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Risk posture at a glance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10908792" cy="15240"/>
          </a:xfrm>
          <a:prstGeom prst="rect">
            <a:avLst/>
          </a:prstGeom>
          <a:solidFill>
            <a:srgbClr val="33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2606040" cy="1600200"/>
          </a:xfrm>
          <a:prstGeom prst="roundRect">
            <a:avLst/>
          </a:prstGeom>
          <a:solidFill>
            <a:srgbClr val="20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100584" cy="1600200"/>
          </a:xfrm>
          <a:prstGeom prst="rect">
            <a:avLst/>
          </a:prstGeom>
          <a:solidFill>
            <a:srgbClr val="A9B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47672"/>
            <a:ext cx="219456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195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80360"/>
            <a:ext cx="219456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200" b="1">
                <a:solidFill>
                  <a:srgbClr val="A9B0C0"/>
                </a:solidFill>
                <a:latin typeface="Calibri"/>
              </a:rPr>
              <a:t>TOTAL CONTROLS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1783080"/>
            <a:ext cx="2606040" cy="1600200"/>
          </a:xfrm>
          <a:prstGeom prst="roundRect">
            <a:avLst/>
          </a:prstGeom>
          <a:solidFill>
            <a:srgbClr val="20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20440" y="1783080"/>
            <a:ext cx="100584" cy="1600200"/>
          </a:xfrm>
          <a:prstGeom prst="rect">
            <a:avLst/>
          </a:prstGeom>
          <a:solidFill>
            <a:srgbClr val="A9B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1947672"/>
            <a:ext cx="219456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88.2%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2880360"/>
            <a:ext cx="219456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200" b="1">
                <a:solidFill>
                  <a:srgbClr val="A9B0C0"/>
                </a:solidFill>
                <a:latin typeface="Calibri"/>
              </a:rPr>
              <a:t>COVERAGE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783080"/>
            <a:ext cx="2606040" cy="1600200"/>
          </a:xfrm>
          <a:prstGeom prst="roundRect">
            <a:avLst/>
          </a:prstGeom>
          <a:solidFill>
            <a:srgbClr val="20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1783080"/>
            <a:ext cx="100584" cy="160020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1947672"/>
            <a:ext cx="219456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113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880360"/>
            <a:ext cx="219456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200" b="1">
                <a:solidFill>
                  <a:srgbClr val="A9B0C0"/>
                </a:solidFill>
                <a:latin typeface="Calibri"/>
              </a:rPr>
              <a:t>COMPLIANT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81160" y="1783080"/>
            <a:ext cx="2606040" cy="1600200"/>
          </a:xfrm>
          <a:prstGeom prst="roundRect">
            <a:avLst/>
          </a:prstGeom>
          <a:solidFill>
            <a:srgbClr val="20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81160" y="1783080"/>
            <a:ext cx="100584" cy="16002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55480" y="1947672"/>
            <a:ext cx="219456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41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55480" y="2880360"/>
            <a:ext cx="219456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200" b="1">
                <a:solidFill>
                  <a:srgbClr val="A9B0C0"/>
                </a:solidFill>
                <a:latin typeface="Calibri"/>
              </a:rPr>
              <a:t>PARTIAL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703320"/>
            <a:ext cx="2606040" cy="1600200"/>
          </a:xfrm>
          <a:prstGeom prst="roundRect">
            <a:avLst/>
          </a:prstGeom>
          <a:solidFill>
            <a:srgbClr val="20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3703320"/>
            <a:ext cx="100584" cy="1600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867912"/>
            <a:ext cx="219456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18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800600"/>
            <a:ext cx="219456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200" b="1">
                <a:solidFill>
                  <a:srgbClr val="A9B0C0"/>
                </a:solidFill>
                <a:latin typeface="Calibri"/>
              </a:rPr>
              <a:t>GAPS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20440" y="3703320"/>
            <a:ext cx="2606040" cy="1600200"/>
          </a:xfrm>
          <a:prstGeom prst="roundRect">
            <a:avLst/>
          </a:prstGeom>
          <a:solidFill>
            <a:srgbClr val="20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520440" y="3703320"/>
            <a:ext cx="100584" cy="1600200"/>
          </a:xfrm>
          <a:prstGeom prst="rect">
            <a:avLst/>
          </a:prstGeom>
          <a:solidFill>
            <a:srgbClr val="7B2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94760" y="3867912"/>
            <a:ext cx="219456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4800600"/>
            <a:ext cx="219456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200" b="1">
                <a:solidFill>
                  <a:srgbClr val="A9B0C0"/>
                </a:solidFill>
                <a:latin typeface="Calibri"/>
              </a:rPr>
              <a:t>EXTREME RISKS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3703320"/>
            <a:ext cx="2606040" cy="1600200"/>
          </a:xfrm>
          <a:prstGeom prst="roundRect">
            <a:avLst/>
          </a:prstGeom>
          <a:solidFill>
            <a:srgbClr val="20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0" y="3703320"/>
            <a:ext cx="100584" cy="1600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5120" y="3867912"/>
            <a:ext cx="219456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4800600"/>
            <a:ext cx="219456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200" b="1">
                <a:solidFill>
                  <a:srgbClr val="A9B0C0"/>
                </a:solidFill>
                <a:latin typeface="Calibri"/>
              </a:rPr>
              <a:t>HIGH RISKS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281160" y="3703320"/>
            <a:ext cx="2606040" cy="1600200"/>
          </a:xfrm>
          <a:prstGeom prst="roundRect">
            <a:avLst/>
          </a:prstGeom>
          <a:solidFill>
            <a:srgbClr val="20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281160" y="3703320"/>
            <a:ext cx="100584" cy="16002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55480" y="3867912"/>
            <a:ext cx="219456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MEDIUM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55480" y="4800600"/>
            <a:ext cx="219456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200" b="1">
                <a:solidFill>
                  <a:srgbClr val="A9B0C0"/>
                </a:solidFill>
                <a:latin typeface="Calibri"/>
              </a:rPr>
              <a:t>OVERALL BAND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548640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100" b="0">
                <a:solidFill>
                  <a:srgbClr val="7A8296"/>
                </a:solidFill>
                <a:latin typeface="Calibri"/>
              </a:rPr>
              <a:t>Scored via Murdoch RMF on assessed controls only. Controls with insufficient policy evidence are tracked as coverage, not compliance.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200" b="1">
                <a:solidFill>
                  <a:srgbClr val="C0392B"/>
                </a:solidFill>
                <a:latin typeface="Calibri"/>
              </a:rPr>
              <a:t>KEY COMPONENTS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Risk distribution by severity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10908792" cy="15240"/>
          </a:xfrm>
          <a:prstGeom prst="rect">
            <a:avLst/>
          </a:prstGeom>
          <a:solidFill>
            <a:srgbClr val="33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1965960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EXTREME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2093976"/>
            <a:ext cx="5669280" cy="365760"/>
          </a:xfrm>
          <a:prstGeom prst="roundRect">
            <a:avLst/>
          </a:prstGeom>
          <a:solidFill>
            <a:srgbClr val="2A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743200" y="2093976"/>
            <a:ext cx="265747" cy="365760"/>
          </a:xfrm>
          <a:prstGeom prst="roundRect">
            <a:avLst/>
          </a:prstGeom>
          <a:solidFill>
            <a:srgbClr val="7B2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0" y="1965960"/>
            <a:ext cx="822960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4040" y="1965960"/>
            <a:ext cx="2377440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200" b="0">
                <a:solidFill>
                  <a:srgbClr val="A9B0C0"/>
                </a:solidFill>
                <a:latin typeface="Calibri"/>
              </a:rPr>
              <a:t>Immediate 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34056"/>
            <a:ext cx="1965960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2862072"/>
            <a:ext cx="5669280" cy="365760"/>
          </a:xfrm>
          <a:prstGeom prst="roundRect">
            <a:avLst/>
          </a:prstGeom>
          <a:solidFill>
            <a:srgbClr val="2A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743200" y="2862072"/>
            <a:ext cx="2303145" cy="36576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0" y="2734056"/>
            <a:ext cx="822960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4040" y="2734056"/>
            <a:ext cx="2377440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200" b="0">
                <a:solidFill>
                  <a:srgbClr val="A9B0C0"/>
                </a:solidFill>
                <a:latin typeface="Calibri"/>
              </a:rPr>
              <a:t>Senior management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502152"/>
            <a:ext cx="1965960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MEDIUM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0" y="3630168"/>
            <a:ext cx="5669280" cy="365760"/>
          </a:xfrm>
          <a:prstGeom prst="roundRect">
            <a:avLst/>
          </a:prstGeom>
          <a:solidFill>
            <a:srgbClr val="2A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743200" y="3630168"/>
            <a:ext cx="5669280" cy="365760"/>
          </a:xfrm>
          <a:prstGeom prst="round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0" y="3502152"/>
            <a:ext cx="822960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64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64040" y="3502152"/>
            <a:ext cx="2377440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200" b="0">
                <a:solidFill>
                  <a:srgbClr val="A9B0C0"/>
                </a:solidFill>
                <a:latin typeface="Calibri"/>
              </a:rPr>
              <a:t>Management owns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270248"/>
            <a:ext cx="1965960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MINOR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0" y="4398264"/>
            <a:ext cx="5669280" cy="365760"/>
          </a:xfrm>
          <a:prstGeom prst="roundRect">
            <a:avLst/>
          </a:prstGeom>
          <a:solidFill>
            <a:srgbClr val="2A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743200" y="4398264"/>
            <a:ext cx="5669280" cy="365760"/>
          </a:xfrm>
          <a:prstGeom prst="roundRect">
            <a:avLst/>
          </a:prstGeom>
          <a:solidFill>
            <a:srgbClr val="F1C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0" y="4270248"/>
            <a:ext cx="822960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64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64040" y="4270248"/>
            <a:ext cx="2377440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200" b="0">
                <a:solidFill>
                  <a:srgbClr val="A9B0C0"/>
                </a:solidFill>
                <a:latin typeface="Calibri"/>
              </a:rPr>
              <a:t>Monitor &amp;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038344"/>
            <a:ext cx="1965960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LOW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43200" y="5166360"/>
            <a:ext cx="5669280" cy="365760"/>
          </a:xfrm>
          <a:prstGeom prst="roundRect">
            <a:avLst/>
          </a:prstGeom>
          <a:solidFill>
            <a:srgbClr val="2A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743200" y="5166360"/>
            <a:ext cx="1328737" cy="36576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95360" y="5038344"/>
            <a:ext cx="822960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64040" y="5038344"/>
            <a:ext cx="2377440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200" b="0">
                <a:solidFill>
                  <a:srgbClr val="A9B0C0"/>
                </a:solidFill>
                <a:latin typeface="Calibri"/>
              </a:rPr>
              <a:t>Routine handling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94360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100" b="0">
                <a:solidFill>
                  <a:srgbClr val="7A8296"/>
                </a:solidFill>
                <a:latin typeface="Calibri"/>
              </a:rPr>
              <a:t>172 controls scored; bar length is relative to the largest severity band. Required action follows the Murdoch RMF.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200" b="1">
                <a:solidFill>
                  <a:srgbClr val="C0392B"/>
                </a:solidFill>
                <a:latin typeface="Calibri"/>
              </a:rPr>
              <a:t>KEY COMPONENTS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Priority risks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10908792" cy="15240"/>
          </a:xfrm>
          <a:prstGeom prst="rect">
            <a:avLst/>
          </a:prstGeom>
          <a:solidFill>
            <a:srgbClr val="33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08792" cy="640080"/>
          </a:xfrm>
          <a:prstGeom prst="roundRect">
            <a:avLst/>
          </a:prstGeom>
          <a:solidFill>
            <a:srgbClr val="20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100584" cy="6400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8680" y="1938528"/>
            <a:ext cx="1234440" cy="329184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938528"/>
            <a:ext cx="1234440" cy="32918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1856232"/>
            <a:ext cx="905256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300" b="1">
                <a:solidFill>
                  <a:srgbClr val="E8A0A0"/>
                </a:solidFill>
                <a:latin typeface="Calibri"/>
              </a:rPr>
              <a:t>[DOCU-03]  </a:t>
            </a:r>
          </a:p>
          <a:p>
            <a:pPr algn="l"/>
            <a:r>
              <a:rPr sz="1250" b="0">
                <a:solidFill>
                  <a:srgbClr val="F8F9FA"/>
                </a:solidFill>
                <a:latin typeface="Calibri"/>
              </a:rPr>
              <a:t>The vendor’s response contradicts the requirement for a recent SSAE 18/SOC 2 audit. The provided evidence is absent, further compounding the gap.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532888"/>
            <a:ext cx="10908792" cy="640080"/>
          </a:xfrm>
          <a:prstGeom prst="roundRect">
            <a:avLst/>
          </a:prstGeom>
          <a:solidFill>
            <a:srgbClr val="20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532888"/>
            <a:ext cx="100584" cy="6400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68680" y="2688336"/>
            <a:ext cx="1234440" cy="329184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688336"/>
            <a:ext cx="1234440" cy="32918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2606040"/>
            <a:ext cx="905256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300" b="1">
                <a:solidFill>
                  <a:srgbClr val="E8A0A0"/>
                </a:solidFill>
                <a:latin typeface="Calibri"/>
              </a:rPr>
              <a:t>[DCTR-14]  </a:t>
            </a:r>
          </a:p>
          <a:p>
            <a:pPr algn="l"/>
            <a:r>
              <a:rPr sz="1250" b="0">
                <a:solidFill>
                  <a:srgbClr val="F8F9FA"/>
                </a:solidFill>
                <a:latin typeface="Calibri"/>
              </a:rPr>
              <a:t>Vendor does not meet Murdoch University’s policy requiring MFA for administrative accounts. This represents a significant risk as it leaves systems vulnerable to…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282696"/>
            <a:ext cx="10908792" cy="640080"/>
          </a:xfrm>
          <a:prstGeom prst="roundRect">
            <a:avLst/>
          </a:prstGeom>
          <a:solidFill>
            <a:srgbClr val="20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282696"/>
            <a:ext cx="100584" cy="6400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68680" y="3438144"/>
            <a:ext cx="1234440" cy="329184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438144"/>
            <a:ext cx="1234440" cy="32918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3355848"/>
            <a:ext cx="905256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300" b="1">
                <a:solidFill>
                  <a:srgbClr val="E8A0A0"/>
                </a:solidFill>
                <a:latin typeface="Calibri"/>
              </a:rPr>
              <a:t>[AIML-03]  </a:t>
            </a:r>
          </a:p>
          <a:p>
            <a:pPr algn="l"/>
            <a:r>
              <a:rPr sz="1250" b="0">
                <a:solidFill>
                  <a:srgbClr val="F8F9FA"/>
                </a:solidFill>
                <a:latin typeface="Calibri"/>
              </a:rPr>
              <a:t>The vendor’s response directly contradicts Murdoch University's policy requirement (Context A) that mandates vetting, validation, and verification of ML training…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032504"/>
            <a:ext cx="10908792" cy="640080"/>
          </a:xfrm>
          <a:prstGeom prst="roundRect">
            <a:avLst/>
          </a:prstGeom>
          <a:solidFill>
            <a:srgbClr val="20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4032504"/>
            <a:ext cx="100584" cy="6400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68680" y="4187952"/>
            <a:ext cx="1234440" cy="329184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4187952"/>
            <a:ext cx="1234440" cy="32918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4105656"/>
            <a:ext cx="905256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300" b="1">
                <a:solidFill>
                  <a:srgbClr val="E8A0A0"/>
                </a:solidFill>
                <a:latin typeface="Calibri"/>
              </a:rPr>
              <a:t>[ITAC-06]  </a:t>
            </a:r>
          </a:p>
          <a:p>
            <a:pPr algn="l"/>
            <a:r>
              <a:rPr sz="1250" b="0">
                <a:solidFill>
                  <a:srgbClr val="F8F9FA"/>
                </a:solidFill>
                <a:latin typeface="Calibri"/>
              </a:rPr>
              <a:t>The vendor simply stated ‘Yes’ without providing a link to the VPAT or ACR. Context A requires a *reference* to the document (Web Link to Accessibility Statement…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782312"/>
            <a:ext cx="10908792" cy="640080"/>
          </a:xfrm>
          <a:prstGeom prst="roundRect">
            <a:avLst/>
          </a:prstGeom>
          <a:solidFill>
            <a:srgbClr val="20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4782312"/>
            <a:ext cx="100584" cy="6400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68680" y="4937760"/>
            <a:ext cx="1234440" cy="329184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4937760"/>
            <a:ext cx="1234440" cy="32918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6000" y="4855464"/>
            <a:ext cx="905256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300" b="1">
                <a:solidFill>
                  <a:srgbClr val="E8A0A0"/>
                </a:solidFill>
                <a:latin typeface="Calibri"/>
              </a:rPr>
              <a:t>[THRD-01]  </a:t>
            </a:r>
          </a:p>
          <a:p>
            <a:pPr algn="l"/>
            <a:r>
              <a:rPr sz="1250" b="0">
                <a:solidFill>
                  <a:srgbClr val="F8F9FA"/>
                </a:solidFill>
                <a:latin typeface="Calibri"/>
              </a:rPr>
              <a:t>Vendor evidence is lacking. The SOC 2 report does not provide specific details about the security assessments performed, their scope, or the methodologies used. M…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5532120"/>
            <a:ext cx="10908792" cy="640080"/>
          </a:xfrm>
          <a:prstGeom prst="roundRect">
            <a:avLst/>
          </a:prstGeom>
          <a:solidFill>
            <a:srgbClr val="20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" y="5532120"/>
            <a:ext cx="100584" cy="6400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68680" y="5687568"/>
            <a:ext cx="1234440" cy="329184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5687568"/>
            <a:ext cx="1234440" cy="32918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86000" y="5605272"/>
            <a:ext cx="905256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300" b="1">
                <a:solidFill>
                  <a:srgbClr val="E8A0A0"/>
                </a:solidFill>
                <a:latin typeface="Calibri"/>
              </a:rPr>
              <a:t>[THRD-04]  </a:t>
            </a:r>
          </a:p>
          <a:p>
            <a:pPr algn="l"/>
            <a:r>
              <a:rPr sz="1250" b="0">
                <a:solidFill>
                  <a:srgbClr val="F8F9FA"/>
                </a:solidFill>
                <a:latin typeface="Calibri"/>
              </a:rPr>
              <a:t>The vendor’s response is a simple ‘Yes,’ but lacks detail regarding the scope, processes, and documentation of their strategy. Context A requires addressing natio…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000" b="0">
                <a:solidFill>
                  <a:srgbClr val="7A8296"/>
                </a:solidFill>
                <a:latin typeface="Calibri"/>
              </a:rPr>
              <a:t>Priority = RMF likelihood × impact (Murdoch matrix); critical controls are escalated one level.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200" b="1">
                <a:solidFill>
                  <a:srgbClr val="C0392B"/>
                </a:solidFill>
                <a:latin typeface="Calibri"/>
              </a:rPr>
              <a:t>THE PATH FORWARD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Recommended next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10908792" cy="15240"/>
          </a:xfrm>
          <a:prstGeom prst="rect">
            <a:avLst/>
          </a:prstGeom>
          <a:solidFill>
            <a:srgbClr val="33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502920" cy="50292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502920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856231"/>
            <a:ext cx="1014984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500" b="0">
                <a:solidFill>
                  <a:srgbClr val="F8F9FA"/>
                </a:solidFill>
                <a:latin typeface="Calibri"/>
              </a:rPr>
              <a:t>Assign senior owners to each HIGH risk and obtain a dated remediation plan.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715767"/>
            <a:ext cx="502920" cy="50292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715767"/>
            <a:ext cx="502920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697479"/>
            <a:ext cx="1014984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500" b="0">
                <a:solidFill>
                  <a:srgbClr val="F8F9FA"/>
                </a:solidFill>
                <a:latin typeface="Calibri"/>
              </a:rPr>
              <a:t>Close the 41 partial control gaps or document compensating controls.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557015"/>
            <a:ext cx="502920" cy="50292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557015"/>
            <a:ext cx="502920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538727"/>
            <a:ext cx="1014984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500" b="0">
                <a:solidFill>
                  <a:srgbClr val="F8F9FA"/>
                </a:solidFill>
                <a:latin typeface="Calibri"/>
              </a:rPr>
              <a:t>Request additional evidence for the 23 controls with insufficient coverage.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98263"/>
            <a:ext cx="502920" cy="50292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398263"/>
            <a:ext cx="502920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379975"/>
            <a:ext cx="1014984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500" b="0">
                <a:solidFill>
                  <a:srgbClr val="F8F9FA"/>
                </a:solidFill>
                <a:latin typeface="Calibri"/>
              </a:rPr>
              <a:t>Re-assess after remediation and formally record residual-risk acceptance.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6263640"/>
            <a:ext cx="10908792" cy="12700"/>
          </a:xfrm>
          <a:prstGeom prst="rect">
            <a:avLst/>
          </a:prstGeom>
          <a:solidFill>
            <a:srgbClr val="33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000" b="0">
                <a:solidFill>
                  <a:srgbClr val="6A7286"/>
                </a:solidFill>
                <a:latin typeface="Calibri"/>
              </a:rPr>
              <a:t>Prepared with the AEGIS assessment engine · Murdoch University RMF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